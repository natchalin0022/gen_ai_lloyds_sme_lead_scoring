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 side. Run per engagement, one pass through each notebook in order. Stage 0 ingests the client CSVs so every company is already held by the time notebook 5 runs. Notebook 3 is not on this path — notebook 5 builds the scoring table for today, no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PIPELINE  ·  SCORE A REAL 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03504"/>
            <a:ext cx="6711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20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pass, one lead list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170432"/>
            <a:ext cx="6711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per engagement. Stage 0 is what makes it linear — it reads the same files notebook 5 will and queues their company numbers, so every notebook runs exactly once.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534656" y="502920"/>
            <a:ext cx="1298448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34656" y="60350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534656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per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8961120" y="502920"/>
            <a:ext cx="1298448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0" y="60350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0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387584" y="502920"/>
            <a:ext cx="1298448" cy="1170432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387584" y="603504"/>
            <a:ext cx="1298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0387584" y="109728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handed</a:t>
            </a:r>
            <a:endParaRPr lang="en-US" sz="950" dirty="0"/>
          </a:p>
          <a:p>
            <a:pPr algn="ctr" indent="0" marL="0">
              <a:lnSpc>
                <a:spcPts val="1100"/>
              </a:lnSpc>
              <a:buNone/>
            </a:pPr>
            <a:r>
              <a:rPr lang="en-US" sz="95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1847088"/>
            <a:ext cx="11183112" cy="457200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2376" y="1847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client/input/*.csv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557016" y="18470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client sends —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company_number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relationship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619488" y="1847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1778508" y="2329434"/>
            <a:ext cx="155448" cy="105156"/>
          </a:xfrm>
          <a:prstGeom prst="triangl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459736"/>
            <a:ext cx="11183112" cy="932688"/>
          </a:xfrm>
          <a:prstGeom prst="rect">
            <a:avLst/>
          </a:prstGeom>
          <a:solidFill>
            <a:srgbClr val="F5F8F6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22376" y="271576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1_CompaniesHouse.ipynb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" y="295351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8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AND PULL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300984" y="2587752"/>
            <a:ext cx="0" cy="676656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57016" y="2660904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Ingest client lists  → 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company_raw/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7658100" y="2660904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1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Pull anyone not already held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3557016" y="2935224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3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Charges + PSC for the new SMEs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658100" y="2935224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4b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Rebuild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charges_history.csv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 rot="10800000">
            <a:off x="1778508" y="3417570"/>
            <a:ext cx="155448" cy="105156"/>
          </a:xfrm>
          <a:prstGeom prst="triangl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3547872"/>
            <a:ext cx="11183112" cy="457200"/>
          </a:xfrm>
          <a:prstGeom prst="rect">
            <a:avLst/>
          </a:prstGeom>
          <a:solidFill>
            <a:srgbClr val="F5F8F6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" y="35661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2_GDELT.ipynb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22376" y="380390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8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ONLY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00984" y="3675888"/>
            <a:ext cx="0" cy="201168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57016" y="3648456"/>
            <a:ext cx="7891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5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Region for the new companies   </a:t>
            </a:r>
            <a:pPr indent="0" marL="0">
              <a:buNone/>
            </a:pPr>
            <a:r>
              <a:rPr lang="en-US" sz="10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Parts 3–4 optional — the cached media index is reused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rot="10800000">
            <a:off x="1778508" y="4030218"/>
            <a:ext cx="155448" cy="105156"/>
          </a:xfrm>
          <a:prstGeom prst="triangl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4160520"/>
            <a:ext cx="11183112" cy="1225296"/>
          </a:xfrm>
          <a:prstGeom prst="rect">
            <a:avLst/>
          </a:prstGeom>
          <a:solidFill>
            <a:srgbClr val="F5F8F6"/>
          </a:solidFill>
          <a:ln w="12700">
            <a:solidFill>
              <a:srgbClr val="DDE3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2376" y="45628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5_score.ipynb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" y="480060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90" kern="0" dirty="0">
                <a:solidFill>
                  <a:srgbClr val="8A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RANK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300984" y="4288536"/>
            <a:ext cx="0" cy="969264"/>
          </a:xfrm>
          <a:prstGeom prst="line">
            <a:avLst/>
          </a:prstGeom>
          <a:noFill/>
          <a:ln w="12700">
            <a:solidFill>
              <a:srgbClr val="DDE3D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557016" y="4254246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§1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Read + repair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658100" y="4254246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§5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Exclude customers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3557016" y="4514850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§2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Coverage check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658100" y="4514850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§6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Soft re-rank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3557016" y="4775454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§3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Features as of TODAY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7658100" y="4775454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§7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Reason codes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3557016" y="5036058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§4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Score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7658100" y="5036058"/>
            <a:ext cx="3790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§8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Write</a:t>
            </a:r>
            <a:pPr indent="0" marL="0">
              <a:buNone/>
            </a:pPr>
            <a:r>
              <a:rPr lang="en-US" sz="950" b="1" dirty="0">
                <a:solidFill>
                  <a:srgbClr val="0069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§9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 rot="10800000">
            <a:off x="1778508" y="5410962"/>
            <a:ext cx="155448" cy="105156"/>
          </a:xfrm>
          <a:prstGeom prst="triangle">
            <a:avLst/>
          </a:prstGeom>
          <a:solidFill>
            <a:srgbClr val="00694A"/>
          </a:solidFill>
          <a:ln w="12700">
            <a:solidFill>
              <a:srgbClr val="0069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5541264"/>
            <a:ext cx="11183112" cy="457200"/>
          </a:xfrm>
          <a:prstGeom prst="rect">
            <a:avLst/>
          </a:prstGeom>
          <a:solidFill>
            <a:srgbClr val="E6F0EB"/>
          </a:solidFill>
          <a:ln w="12700">
            <a:solidFill>
              <a:srgbClr val="E6F0E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22376" y="5541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client/output/&lt;date&gt;/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3557016" y="554126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leads.csv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not_found.csv</a:t>
            </a:r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000" dirty="0">
                <a:solidFill>
                  <a:srgbClr val="0A3D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run_manifest.txt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9619488" y="554126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40" kern="0" dirty="0">
                <a:solidFill>
                  <a:srgbClr val="006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502920" y="6144768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Dated and never overwritten. not_found.csv matters as much as leads.csv — “here are your leads, and here are the 43 numbers we could not match” is what makes the first file trustworthy.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2026-08-31T19:10:32Z</dcterms:created>
  <dcterms:modified xsi:type="dcterms:W3CDTF">2026-08-31T19:10:32Z</dcterms:modified>
</cp:coreProperties>
</file>