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1B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98"/>
  </p:normalViewPr>
  <p:slideViewPr>
    <p:cSldViewPr snapToGrid="0">
      <p:cViewPr varScale="1">
        <p:scale>
          <a:sx n="111" d="100"/>
          <a:sy n="111" d="100"/>
        </p:scale>
        <p:origin x="5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D500-7B45-7706-73B3-F31A53ACE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2DA5488F-6B42-57A4-C895-FF1D46B15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C60BD555-9F9A-E1BD-A051-550E70B60E3F}"/>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6AD48B8D-B5EB-E898-92B6-7479E26CC36B}"/>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6736681B-22FF-5DD0-1988-AE61F04B4C19}"/>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2414577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75C70-D92D-0920-827B-64FCCB763705}"/>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397ACE87-205D-E5CB-E060-DF285DF15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8EA08038-D624-3518-9861-D8419A292642}"/>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3450F143-602A-261C-22B2-5705EA22F2D8}"/>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9C5BF119-FA68-8A4F-3607-A8E04DEEC243}"/>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11730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859C-1A3E-029F-1A2B-71C394B787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6B2841B0-49A4-C5EA-E32E-87939CA26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9AF3B8-EEE4-6324-3CB8-6D78477A62D4}"/>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6C3102F9-35E3-7CD0-F1CB-7ADD5D6B47CC}"/>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D6F380D1-0F16-9F96-747A-E9FAA11744C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011301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2416-7916-D6E6-5FDF-A4F87AFE5945}"/>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D8E31E78-B5CC-CB17-4C12-7C07B0700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7EA0D9B6-59B7-B9E0-019B-AA5674CE1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4A7204A1-5C65-2F34-4295-649C26E71A5B}"/>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6" name="Footer Placeholder 5">
            <a:extLst>
              <a:ext uri="{FF2B5EF4-FFF2-40B4-BE49-F238E27FC236}">
                <a16:creationId xmlns:a16="http://schemas.microsoft.com/office/drawing/2014/main" id="{22F0A06D-27C4-3BB8-1442-CCF557CEC23D}"/>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D75F23BA-8B1A-91D9-C914-F970DBC3927A}"/>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18600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94BBF-3E6F-D88F-62DD-505F05D9233D}"/>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67D67D0B-5E2F-BA31-852C-072A963556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C69CA5-B272-57CE-3706-A2308B7F54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D1174935-964D-1E1B-DBE9-12D07614D9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C7022B-C40B-CB88-557B-0559EEABD9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BDFFE28E-A413-66EF-128B-6653C2D190CB}"/>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8" name="Footer Placeholder 7">
            <a:extLst>
              <a:ext uri="{FF2B5EF4-FFF2-40B4-BE49-F238E27FC236}">
                <a16:creationId xmlns:a16="http://schemas.microsoft.com/office/drawing/2014/main" id="{CDE9D9A5-D8A5-1DC0-0C40-538397519324}"/>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2E2C3C67-9C81-E3DE-5378-89DAA63C79D7}"/>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41980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0061-1D23-590D-B2D4-CE5C03EBD298}"/>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DF8D7121-5853-5308-84CD-779940DEFE2A}"/>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4" name="Footer Placeholder 3">
            <a:extLst>
              <a:ext uri="{FF2B5EF4-FFF2-40B4-BE49-F238E27FC236}">
                <a16:creationId xmlns:a16="http://schemas.microsoft.com/office/drawing/2014/main" id="{F6FF3D9D-5D09-4AF2-932C-4ACBC5C0ECA0}"/>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1054A5A7-C878-9FE3-FD1D-0DCAD61583E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887223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47553-7174-6570-BF17-9DDE6BC8A7C4}"/>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3" name="Footer Placeholder 2">
            <a:extLst>
              <a:ext uri="{FF2B5EF4-FFF2-40B4-BE49-F238E27FC236}">
                <a16:creationId xmlns:a16="http://schemas.microsoft.com/office/drawing/2014/main" id="{9B154091-2100-9B9E-E5D8-7A4C6AFCBAD3}"/>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0D43F9A6-0D34-A792-3908-E1D29F876ED8}"/>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1993139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6B6A-A506-1323-186F-40B383558E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B63BC022-7D5E-3378-937F-B7DB67CEB3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1705542C-FBC8-5126-E4AC-277B4689BC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8BA10-991B-F9F2-8943-F46042B47BE1}"/>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6" name="Footer Placeholder 5">
            <a:extLst>
              <a:ext uri="{FF2B5EF4-FFF2-40B4-BE49-F238E27FC236}">
                <a16:creationId xmlns:a16="http://schemas.microsoft.com/office/drawing/2014/main" id="{A3628E17-9427-B4E1-F1F8-1F45BDF71B26}"/>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BD112EDD-6893-9CA2-23F5-893C7E27F536}"/>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040459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C100-66BF-EBB8-8684-6A1FDE389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BC88E3DE-FBF3-DD73-4C9F-94F407805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C59299A6-3A04-CD2C-D1CE-B95860069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ED168-6E4F-4136-9ADC-F5C52B25210B}"/>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6" name="Footer Placeholder 5">
            <a:extLst>
              <a:ext uri="{FF2B5EF4-FFF2-40B4-BE49-F238E27FC236}">
                <a16:creationId xmlns:a16="http://schemas.microsoft.com/office/drawing/2014/main" id="{99D19BB2-FBE4-AC6D-5D16-BCB169CDF9B7}"/>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2F869E28-8387-5163-2BB1-D40ABADB582D}"/>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211005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0D68-C5EC-C441-7744-3E967F702B19}"/>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29245954-38CA-C7BD-B66F-077B8D2A9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AF78FD11-2B84-C3C8-57E9-B00D6B713A41}"/>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0E396AC0-6E11-B498-5D55-32E8A9EAB0A0}"/>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276B3DE1-A1D5-EC8C-F4AF-25D59F5001F5}"/>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81861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2EF20E-A104-6BD8-8961-6A10FF528D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8B735948-3B23-E405-EAE0-CE1B818938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754D866A-78EB-DF18-3FF0-BE6343661EE2}"/>
              </a:ext>
            </a:extLst>
          </p:cNvPr>
          <p:cNvSpPr>
            <a:spLocks noGrp="1"/>
          </p:cNvSpPr>
          <p:nvPr>
            <p:ph type="dt" sz="half" idx="10"/>
          </p:nvPr>
        </p:nvSpPr>
        <p:spPr/>
        <p:txBody>
          <a:body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E3EED026-A636-BAD5-4642-E258EBD8A166}"/>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E5181D18-D496-736A-2D5A-A07E3BE15FBB}"/>
              </a:ext>
            </a:extLst>
          </p:cNvPr>
          <p:cNvSpPr>
            <a:spLocks noGrp="1"/>
          </p:cNvSpPr>
          <p:nvPr>
            <p:ph type="sldNum" sz="quarter" idx="12"/>
          </p:nvPr>
        </p:nvSpPr>
        <p:spPr/>
        <p:txBody>
          <a:bodyPr/>
          <a:lstStyle/>
          <a:p>
            <a:fld id="{A86F99D4-C95F-BF44-9F36-92DE8553D371}" type="slidenum">
              <a:rPr lang="en-TH" smtClean="0"/>
              <a:t>‹#›</a:t>
            </a:fld>
            <a:endParaRPr lang="en-TH"/>
          </a:p>
        </p:txBody>
      </p:sp>
    </p:spTree>
    <p:extLst>
      <p:ext uri="{BB962C8B-B14F-4D97-AF65-F5344CB8AC3E}">
        <p14:creationId xmlns:p14="http://schemas.microsoft.com/office/powerpoint/2010/main" val="330189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08BF9F-51FC-2A03-550E-E2EC9ED2F8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92096448-12CB-67F2-459E-0C0DBD9999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56998A3A-3AC1-B474-DBAE-BEFB74242A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B5AD5C-8BDD-174A-A80E-A197428A0F3C}" type="datetimeFigureOut">
              <a:rPr lang="en-TH" smtClean="0"/>
              <a:t>28/6/2026 R</a:t>
            </a:fld>
            <a:endParaRPr lang="en-TH"/>
          </a:p>
        </p:txBody>
      </p:sp>
      <p:sp>
        <p:nvSpPr>
          <p:cNvPr id="5" name="Footer Placeholder 4">
            <a:extLst>
              <a:ext uri="{FF2B5EF4-FFF2-40B4-BE49-F238E27FC236}">
                <a16:creationId xmlns:a16="http://schemas.microsoft.com/office/drawing/2014/main" id="{F7EC9897-ECA7-77A0-8B52-F1DD82FA64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H"/>
          </a:p>
        </p:txBody>
      </p:sp>
      <p:sp>
        <p:nvSpPr>
          <p:cNvPr id="6" name="Slide Number Placeholder 5">
            <a:extLst>
              <a:ext uri="{FF2B5EF4-FFF2-40B4-BE49-F238E27FC236}">
                <a16:creationId xmlns:a16="http://schemas.microsoft.com/office/drawing/2014/main" id="{F34DA521-B27E-7A05-4859-B5F9CEAD4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6F99D4-C95F-BF44-9F36-92DE8553D371}" type="slidenum">
              <a:rPr lang="en-TH" smtClean="0"/>
              <a:t>‹#›</a:t>
            </a:fld>
            <a:endParaRPr lang="en-TH"/>
          </a:p>
        </p:txBody>
      </p:sp>
    </p:spTree>
    <p:extLst>
      <p:ext uri="{BB962C8B-B14F-4D97-AF65-F5344CB8AC3E}">
        <p14:creationId xmlns:p14="http://schemas.microsoft.com/office/powerpoint/2010/main" val="1240157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B4BF87-E1B3-481A-80E8-14703C1D290C}"/>
              </a:ext>
            </a:extLst>
          </p:cNvPr>
          <p:cNvSpPr>
            <a:spLocks/>
          </p:cNvSpPr>
          <p:nvPr/>
        </p:nvSpPr>
        <p:spPr>
          <a:xfrm>
            <a:off x="0" y="0"/>
            <a:ext cx="12192000" cy="998483"/>
          </a:xfrm>
          <a:prstGeom prst="rect">
            <a:avLst/>
          </a:prstGeom>
          <a:solidFill>
            <a:srgbClr val="B11B2D"/>
          </a:solidFill>
          <a:ln>
            <a:solidFill>
              <a:srgbClr val="B11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 name="Title 1">
            <a:extLst>
              <a:ext uri="{FF2B5EF4-FFF2-40B4-BE49-F238E27FC236}">
                <a16:creationId xmlns:a16="http://schemas.microsoft.com/office/drawing/2014/main" id="{43040C82-1EF0-34BD-B6B2-3C19503EB575}"/>
              </a:ext>
            </a:extLst>
          </p:cNvPr>
          <p:cNvSpPr>
            <a:spLocks noGrp="1"/>
          </p:cNvSpPr>
          <p:nvPr>
            <p:ph type="title"/>
          </p:nvPr>
        </p:nvSpPr>
        <p:spPr>
          <a:xfrm>
            <a:off x="312683" y="130010"/>
            <a:ext cx="10515600" cy="738461"/>
          </a:xfrm>
        </p:spPr>
        <p:txBody>
          <a:bodyPr>
            <a:normAutofit/>
          </a:bodyPr>
          <a:lstStyle/>
          <a:p>
            <a:r>
              <a:rPr lang="en-TH" sz="2800" b="1" dirty="0">
                <a:solidFill>
                  <a:schemeClr val="bg1"/>
                </a:solidFill>
              </a:rPr>
              <a:t>GDELT</a:t>
            </a:r>
          </a:p>
        </p:txBody>
      </p:sp>
      <p:sp>
        <p:nvSpPr>
          <p:cNvPr id="3" name="Content Placeholder 2">
            <a:extLst>
              <a:ext uri="{FF2B5EF4-FFF2-40B4-BE49-F238E27FC236}">
                <a16:creationId xmlns:a16="http://schemas.microsoft.com/office/drawing/2014/main" id="{6E65B397-7873-8B1C-ABCB-7499281C168E}"/>
              </a:ext>
            </a:extLst>
          </p:cNvPr>
          <p:cNvSpPr>
            <a:spLocks noGrp="1"/>
          </p:cNvSpPr>
          <p:nvPr>
            <p:ph idx="1"/>
          </p:nvPr>
        </p:nvSpPr>
        <p:spPr>
          <a:xfrm>
            <a:off x="312683" y="1207760"/>
            <a:ext cx="6273800" cy="2664654"/>
          </a:xfrm>
        </p:spPr>
        <p:txBody>
          <a:bodyPr>
            <a:normAutofit lnSpcReduction="10000"/>
          </a:bodyPr>
          <a:lstStyle/>
          <a:p>
            <a:r>
              <a:rPr lang="en-TH" sz="1400" b="1" dirty="0">
                <a:solidFill>
                  <a:srgbClr val="B11B2D"/>
                </a:solidFill>
              </a:rPr>
              <a:t>What is GDELT?</a:t>
            </a:r>
          </a:p>
          <a:p>
            <a:pPr marL="0" indent="0">
              <a:buNone/>
            </a:pPr>
            <a:r>
              <a:rPr lang="en-TH" sz="1200" dirty="0"/>
              <a:t>Global Database of Events, Language, and Tone – massive, open-source database platform that monitors global boradcast, prints and news over 100 languages.</a:t>
            </a:r>
          </a:p>
          <a:p>
            <a:pPr marL="0" indent="0">
              <a:buNone/>
            </a:pPr>
            <a:endParaRPr lang="en-TH" sz="1200" dirty="0"/>
          </a:p>
          <a:p>
            <a:r>
              <a:rPr lang="en-TH" sz="1400" b="1" dirty="0">
                <a:solidFill>
                  <a:srgbClr val="B11B2D"/>
                </a:solidFill>
              </a:rPr>
              <a:t>How does it contribute to the project?</a:t>
            </a:r>
          </a:p>
          <a:p>
            <a:r>
              <a:rPr lang="en-TH" sz="1200" b="1" dirty="0"/>
              <a:t>timeline tone </a:t>
            </a:r>
            <a:r>
              <a:rPr lang="en-TH" sz="1200" dirty="0"/>
              <a:t>(sentiment) and </a:t>
            </a:r>
            <a:r>
              <a:rPr lang="en-TH" sz="1200" b="1" dirty="0"/>
              <a:t>timeline volume</a:t>
            </a:r>
            <a:r>
              <a:rPr lang="en-TH" sz="1200" dirty="0"/>
              <a:t> (coverage) of the news regards the keywords given.</a:t>
            </a:r>
          </a:p>
          <a:p>
            <a:r>
              <a:rPr lang="en-TH" sz="1200" dirty="0"/>
              <a:t>Comparing </a:t>
            </a:r>
            <a:r>
              <a:rPr lang="en-TH" sz="1200" b="1" dirty="0"/>
              <a:t>sector-level </a:t>
            </a:r>
            <a:r>
              <a:rPr lang="en-TH" sz="1200" dirty="0"/>
              <a:t>tone and volume in the </a:t>
            </a:r>
            <a:r>
              <a:rPr lang="en-TH" sz="1200" b="1" dirty="0"/>
              <a:t>UK only </a:t>
            </a:r>
            <a:r>
              <a:rPr lang="en-TH" sz="1200" dirty="0"/>
              <a:t>by </a:t>
            </a:r>
            <a:r>
              <a:rPr lang="en-TH" sz="1200" b="1" dirty="0"/>
              <a:t>comparing its z-score </a:t>
            </a:r>
            <a:r>
              <a:rPr lang="en-TH" sz="1200" dirty="0"/>
              <a:t>from its own baseline (upto 52 weeks of data)</a:t>
            </a:r>
          </a:p>
          <a:p>
            <a:r>
              <a:rPr lang="en-TH" sz="1200" dirty="0"/>
              <a:t>With most improved topics, we can later use the topic to filter for companies in Companies House with SIC code to focus.</a:t>
            </a:r>
          </a:p>
        </p:txBody>
      </p:sp>
      <p:sp>
        <p:nvSpPr>
          <p:cNvPr id="6" name="Rectangle 5">
            <a:extLst>
              <a:ext uri="{FF2B5EF4-FFF2-40B4-BE49-F238E27FC236}">
                <a16:creationId xmlns:a16="http://schemas.microsoft.com/office/drawing/2014/main" id="{66980A88-0CB3-BBCC-C85B-AB76BE206DB6}"/>
              </a:ext>
            </a:extLst>
          </p:cNvPr>
          <p:cNvSpPr>
            <a:spLocks noGrp="1" noRot="1" noMove="1" noResize="1" noEditPoints="1" noAdjustHandles="1" noChangeArrowheads="1" noChangeShapeType="1"/>
          </p:cNvSpPr>
          <p:nvPr/>
        </p:nvSpPr>
        <p:spPr>
          <a:xfrm>
            <a:off x="0" y="6311900"/>
            <a:ext cx="12192000" cy="546100"/>
          </a:xfrm>
          <a:prstGeom prst="rect">
            <a:avLst/>
          </a:prstGeom>
          <a:solidFill>
            <a:srgbClr val="B11B2D"/>
          </a:solidFill>
          <a:ln>
            <a:solidFill>
              <a:srgbClr val="B11B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cxnSp>
        <p:nvCxnSpPr>
          <p:cNvPr id="9" name="Straight Connector 8">
            <a:extLst>
              <a:ext uri="{FF2B5EF4-FFF2-40B4-BE49-F238E27FC236}">
                <a16:creationId xmlns:a16="http://schemas.microsoft.com/office/drawing/2014/main" id="{B377BD6C-5B40-E9FE-D670-4D7602B66672}"/>
              </a:ext>
            </a:extLst>
          </p:cNvPr>
          <p:cNvCxnSpPr/>
          <p:nvPr/>
        </p:nvCxnSpPr>
        <p:spPr>
          <a:xfrm>
            <a:off x="7052441" y="1128494"/>
            <a:ext cx="0" cy="4978016"/>
          </a:xfrm>
          <a:prstGeom prst="line">
            <a:avLst/>
          </a:prstGeom>
          <a:ln>
            <a:solidFill>
              <a:srgbClr val="B11B2D"/>
            </a:solidFill>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BA8011DD-D54C-2712-EA8C-AA849496C0AB}"/>
              </a:ext>
            </a:extLst>
          </p:cNvPr>
          <p:cNvSpPr txBox="1">
            <a:spLocks/>
          </p:cNvSpPr>
          <p:nvPr/>
        </p:nvSpPr>
        <p:spPr>
          <a:xfrm>
            <a:off x="7514898" y="1203874"/>
            <a:ext cx="4364419" cy="49026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TH" sz="1400" b="1" dirty="0">
                <a:solidFill>
                  <a:srgbClr val="B11B2D"/>
                </a:solidFill>
              </a:rPr>
              <a:t>Challenges faced and solutions</a:t>
            </a:r>
          </a:p>
          <a:p>
            <a:pPr>
              <a:buFont typeface="Arial" panose="020B0604020202020204" pitchFamily="34" charset="0"/>
              <a:buAutoNum type="arabicPeriod"/>
            </a:pPr>
            <a:r>
              <a:rPr lang="en-TH" sz="1200" b="1" dirty="0">
                <a:solidFill>
                  <a:srgbClr val="00B050"/>
                </a:solidFill>
              </a:rPr>
              <a:t>Unreliability of GDELT API </a:t>
            </a:r>
            <a:r>
              <a:rPr lang="en-TH" sz="1200" dirty="0"/>
              <a:t>– unidentifiable API pull restriction led to time-consuming waits and unreliability. Therefore, BigQuery is used.</a:t>
            </a:r>
          </a:p>
          <a:p>
            <a:pPr>
              <a:buFont typeface="Arial" panose="020B0604020202020204" pitchFamily="34" charset="0"/>
              <a:buAutoNum type="arabicPeriod"/>
            </a:pPr>
            <a:r>
              <a:rPr lang="en-TH" sz="1200" b="1" dirty="0">
                <a:solidFill>
                  <a:srgbClr val="00B050"/>
                </a:solidFill>
              </a:rPr>
              <a:t>BigQuery free tier cap </a:t>
            </a:r>
            <a:r>
              <a:rPr lang="en-TH" sz="1200" dirty="0"/>
              <a:t>– BigQuery is capped at 1TB per month. Therefore, for weekly run, the user (Lloyds and us) need to cap the baseline week (for each SIC own z-score comparison) down to maximum 52 weeks (1 year) worth of comparison</a:t>
            </a:r>
          </a:p>
          <a:p>
            <a:pPr>
              <a:buFont typeface="Arial" panose="020B0604020202020204" pitchFamily="34" charset="0"/>
              <a:buAutoNum type="arabicPeriod"/>
            </a:pPr>
            <a:r>
              <a:rPr lang="en-TH" sz="1200" b="1" dirty="0">
                <a:solidFill>
                  <a:schemeClr val="bg2">
                    <a:lumMod val="50000"/>
                  </a:schemeClr>
                </a:solidFill>
              </a:rPr>
              <a:t>Defining regions (locality) of the news </a:t>
            </a:r>
            <a:r>
              <a:rPr lang="en-TH" sz="1200" dirty="0"/>
              <a:t>– beside UK, we would like to dig deeper into which regions or cities the news talk about. I believe GDELT is able to this this. This topic solution is still to be worked on.</a:t>
            </a:r>
          </a:p>
          <a:p>
            <a:pPr>
              <a:buFont typeface="Arial" panose="020B0604020202020204" pitchFamily="34" charset="0"/>
              <a:buAutoNum type="arabicPeriod"/>
            </a:pPr>
            <a:r>
              <a:rPr lang="en-TH" sz="1200" b="1" dirty="0">
                <a:solidFill>
                  <a:schemeClr val="bg2">
                    <a:lumMod val="50000"/>
                  </a:schemeClr>
                </a:solidFill>
              </a:rPr>
              <a:t>Accuracy of GDELT information </a:t>
            </a:r>
            <a:r>
              <a:rPr lang="en-TH" sz="1200" dirty="0"/>
              <a:t>– since the BigQuery path is not pulled as news content or gives any description, we are unable to verify its validity through manually checking. This is still to be worked on</a:t>
            </a:r>
          </a:p>
          <a:p>
            <a:pPr>
              <a:buFont typeface="Arial" panose="020B0604020202020204" pitchFamily="34" charset="0"/>
              <a:buAutoNum type="arabicPeriod"/>
            </a:pPr>
            <a:endParaRPr lang="en-TH" sz="1200" dirty="0"/>
          </a:p>
          <a:p>
            <a:r>
              <a:rPr lang="en-TH" sz="1400" b="1" dirty="0">
                <a:solidFill>
                  <a:srgbClr val="B11B2D"/>
                </a:solidFill>
              </a:rPr>
              <a:t>Next Step</a:t>
            </a:r>
          </a:p>
          <a:p>
            <a:pPr marL="0" indent="0">
              <a:buNone/>
            </a:pPr>
            <a:r>
              <a:rPr lang="en-TH" sz="1200" dirty="0"/>
              <a:t>Next step is to fully complete GDELT data exploration including the regions of each news and the accuracy of GDELT data within the first week of July and to start discussing on the use of every data API and the model in the second week.</a:t>
            </a:r>
          </a:p>
        </p:txBody>
      </p:sp>
      <p:pic>
        <p:nvPicPr>
          <p:cNvPr id="5" name="Picture 4">
            <a:extLst>
              <a:ext uri="{FF2B5EF4-FFF2-40B4-BE49-F238E27FC236}">
                <a16:creationId xmlns:a16="http://schemas.microsoft.com/office/drawing/2014/main" id="{81C4FE05-0049-6C26-9168-B349775141E7}"/>
              </a:ext>
            </a:extLst>
          </p:cNvPr>
          <p:cNvPicPr>
            <a:picLocks noChangeAspect="1"/>
          </p:cNvPicPr>
          <p:nvPr/>
        </p:nvPicPr>
        <p:blipFill>
          <a:blip r:embed="rId2"/>
          <a:stretch>
            <a:fillRect/>
          </a:stretch>
        </p:blipFill>
        <p:spPr>
          <a:xfrm>
            <a:off x="312683" y="3872414"/>
            <a:ext cx="6442840" cy="2309474"/>
          </a:xfrm>
          <a:prstGeom prst="rect">
            <a:avLst/>
          </a:prstGeom>
        </p:spPr>
      </p:pic>
    </p:spTree>
    <p:extLst>
      <p:ext uri="{BB962C8B-B14F-4D97-AF65-F5344CB8AC3E}">
        <p14:creationId xmlns:p14="http://schemas.microsoft.com/office/powerpoint/2010/main" val="3746751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318</Words>
  <Application>Microsoft Macintosh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GDELT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Natchalin Iwsakul</dc:creator>
  <cp:lastModifiedBy>Natchalin Iwsakul</cp:lastModifiedBy>
  <cp:revision>4</cp:revision>
  <dcterms:created xsi:type="dcterms:W3CDTF">2026-06-25T17:15:12Z</dcterms:created>
  <dcterms:modified xsi:type="dcterms:W3CDTF">2026-06-28T06:52:29Z</dcterms:modified>
</cp:coreProperties>
</file>